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2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36B7EF"/>
                </a:solidFill>
                <a:latin typeface="Aptos"/>
              </a:defRPr>
            </a:pPr>
            <a:r>
              <a:t>GlycoTwin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2F7FC"/>
                </a:solidFill>
                <a:latin typeface="Aptos"/>
              </a:defRPr>
            </a:pPr>
            <a:r>
              <a:t>A Personalized Digital Twin for 2-Hour Glucose Excursion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CBED2"/>
                </a:solidFill>
                <a:latin typeface="Aptos"/>
              </a:defRPr>
            </a:pPr>
            <a:r>
              <a:t>Static clinical context + sequential CGM/wearable signals → updated Twin state → event-risk estimate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480560"/>
            <a:ext cx="5120640" cy="91440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Research endpoint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≥30 mg/dL observed glucose rise within 120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rPr dirty="0"/>
              <a:t>[</a:t>
            </a:r>
            <a:r>
              <a:rPr lang="en-IN" dirty="0" err="1"/>
              <a:t>ShecanDo</a:t>
            </a:r>
            <a:r>
              <a:rPr lang="en-IN" dirty="0"/>
              <a:t> it!</a:t>
            </a:r>
            <a:r>
              <a:rPr dirty="0"/>
              <a:t>] • [</a:t>
            </a:r>
            <a:r>
              <a:rPr lang="en-IN" dirty="0"/>
              <a:t>Vel Tech High Tech Dr Rangarajan Dr Sakunthala Engineering College</a:t>
            </a:r>
            <a:r>
              <a:rPr dirty="0"/>
              <a:t>] • Digital Twin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Clinical records change slowly; physiology changes continuously.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20040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Static context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Demographics and labs provide useful background but change slowly.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474720" cy="320040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Dynamic signals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CGM and activity streams capture short-term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74720" cy="3200400"/>
          </a:xfrm>
          <a:prstGeom prst="roundRect">
            <a:avLst/>
          </a:prstGeom>
          <a:solidFill>
            <a:srgbClr val="192A3E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FF5F67"/>
                </a:solidFill>
              </a:defRPr>
            </a:pPr>
            <a:r>
              <a:t>The gap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Can a continuously updated representation estimate a near-term event?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2F7FC"/>
                </a:solidFill>
                <a:latin typeface="Aptos"/>
              </a:defRPr>
            </a:pPr>
            <a:r>
              <a:t>One specific condition-related outcome; one reproducible pipeline; one clinician-facing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2. Our solution: GlycoTwin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The Digital Twin is a stateful representation, not just a classifier.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347472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Twin state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• Current glucose and recent history</a:t>
            </a:r>
            <a:br/>
            <a:r>
              <a:t>• Personal baseline and glucose momentum</a:t>
            </a:r>
            <a:br/>
            <a:r>
              <a:t>• Activity/cardiovascular summaries</a:t>
            </a:r>
            <a:br/>
            <a:r>
              <a:t>• Data completeness heuristic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347472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Prediction + dashboard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• Saved calibrated Logistic Regression</a:t>
            </a:r>
            <a:br/>
            <a:r>
              <a:t>• Estimated event probability</a:t>
            </a:r>
            <a:br/>
            <a:r>
              <a:t>• History and feature context</a:t>
            </a:r>
            <a:br/>
            <a:r>
              <a:t>• Research-only scenario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CBED2"/>
                </a:solidFill>
                <a:latin typeface="Aptos"/>
              </a:defRPr>
            </a:pPr>
            <a:r>
              <a:t>The model predicts event probability, not an exact future glucose curve.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3.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Two data streams update the Twin, which feeds a separate prediction component.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377440" cy="182880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Static profile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Age, BMI, HbA1c,</a:t>
            </a:r>
            <a:br/>
            <a:r>
              <a:t>fasting glucose, insulin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2377440" cy="182880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Dynamic stream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CGM, heart rate,</a:t>
            </a:r>
            <a:br/>
            <a:r>
              <a:t>activity, METs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560320"/>
            <a:ext cx="2468880" cy="201168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Digital Twin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History, baseline,</a:t>
            </a:r>
            <a:br/>
            <a:r>
              <a:t>momentum, state,</a:t>
            </a:r>
            <a:br/>
            <a:r>
              <a:t>data completeness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560320"/>
            <a:ext cx="2468880" cy="201168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ML model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Calibrated Logistic</a:t>
            </a:r>
            <a:br/>
            <a:r>
              <a:t>Regression; saved</a:t>
            </a:r>
            <a:br/>
            <a:r>
              <a:t>model artifact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560320"/>
            <a:ext cx="2560320" cy="201168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Doctor UI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Risk, history,</a:t>
            </a:r>
            <a:br/>
            <a:r>
              <a:t>feature context,</a:t>
            </a:r>
            <a:br/>
            <a:r>
              <a:t>provenance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4. Data and responsible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Open-source data; explicit limitations.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CGMacros v1.0.0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• PhysioNet dataset</a:t>
            </a:r>
            <a:br/>
            <a:r>
              <a:t>• 45 participants across healthy, prediabetes and T2D groups</a:t>
            </a:r>
            <a:br/>
            <a:r>
              <a:t>• CGM, activity/heart-rate-related signals, meals and clinical variables</a:t>
            </a:r>
            <a:br/>
            <a:r>
              <a:t>• Raw data downloaded separately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Governance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• CC BY-NC-SA 4.0</a:t>
            </a:r>
            <a:br/>
            <a:r>
              <a:t>• Timestamps are shifted</a:t>
            </a:r>
            <a:br/>
            <a:r>
              <a:t>• No raw dataset in Git</a:t>
            </a:r>
            <a:br/>
            <a:r>
              <a:t>• Small observational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5F67"/>
                </a:solidFill>
                <a:latin typeface="Aptos"/>
              </a:defRPr>
            </a:pPr>
            <a:r>
              <a:rPr dirty="0"/>
              <a:t>A dashboard cohort filter does not prove the model was trained only on that cohort.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5. What exactly is predicted?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A defined experimental target.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241280" cy="164592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Positive event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Observed glucose rises by ≥30 mg/dL above current observed glucose at any valid measurement during the next 120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2F7FC"/>
                </a:solidFill>
                <a:latin typeface="Aptos"/>
              </a:defRPr>
            </a:pPr>
            <a:r>
              <a:t>This is a dataset-specific research label, not a clinical definition of danger. The model estimates event probability; it does not forecast an exact glucose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5F67"/>
                </a:solidFill>
                <a:latin typeface="Aptos"/>
              </a:defRPr>
            </a:pPr>
            <a:r>
              <a:t>Research operating threshold: 0.20 — not clinically validated.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6.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Participant-disjoint development-run results; reproduce before submission.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74320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Logistic Regression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AUROC 0.7527</a:t>
            </a:r>
            <a:br/>
            <a:r>
              <a:t>AP 0.4662</a:t>
            </a:r>
            <a:br/>
            <a:r>
              <a:t>F1 0.4799</a:t>
            </a:r>
            <a:br/>
            <a:r>
              <a:t>Calibrated Brier 0.1439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63040"/>
            <a:ext cx="246888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Random Forest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AUROC 0.7273</a:t>
            </a:r>
            <a:br/>
            <a:r>
              <a:t>AP 0.4361</a:t>
            </a:r>
            <a:br/>
            <a:r>
              <a:t>F1 0.4639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46888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GRU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AUROC 0.7336</a:t>
            </a:r>
            <a:br/>
            <a:r>
              <a:t>AP 0.4423</a:t>
            </a:r>
            <a:br/>
            <a:r>
              <a:t>F1 0.4477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463040"/>
            <a:ext cx="274320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Split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31 train</a:t>
            </a:r>
            <a:br/>
            <a:r>
              <a:t>7 validation</a:t>
            </a:r>
            <a:br/>
            <a:r>
              <a:t>7 held-out test</a:t>
            </a:r>
            <a:br/>
            <a:r>
              <a:t>No participant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rPr dirty="0"/>
              <a:t>Calibrated model: AUROC 0.7512, AP 0.4652, Brier 0.1439. Uncalibrated AUROC 0.7527.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7. Why fuse both streams?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Feature-group ablation on held-out test participants.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83464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Static only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AUROC</a:t>
            </a:r>
            <a:br/>
            <a:r>
              <a:t>0.6083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283464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Dynamic only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AUROC</a:t>
            </a:r>
            <a:br/>
            <a:r>
              <a:t>0.6463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560320" cy="283464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Static + dynamic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AUROC</a:t>
            </a:r>
            <a:br/>
            <a:r>
              <a:t>0.7291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560320" cy="283464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+ personal baseline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AUROC</a:t>
            </a:r>
            <a:br/>
            <a:r>
              <a:t>0.7423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7FC"/>
                </a:solidFill>
                <a:latin typeface="Aptos"/>
              </a:defRPr>
            </a:pPr>
            <a:r>
              <a:t>The combined feature groups performed better in these experiments. Ablation runs are distinct from the final standalone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8. Prototype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Use screenshots from the actual running 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1. Select participant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Show cohort filter and static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47472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2. Replay stream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Show sequential observations and Twin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74720" cy="3383280"/>
          </a:xfrm>
          <a:prstGeom prst="roundRect">
            <a:avLst/>
          </a:prstGeom>
          <a:solidFill>
            <a:srgbClr val="192A3E"/>
          </a:solidFill>
          <a:ln>
            <a:solidFill>
              <a:srgbClr val="36B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36B7EF"/>
                </a:solidFill>
              </a:defRPr>
            </a:pPr>
            <a:r>
              <a:t>3. Inspect estimate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Show risk, history, data completeness and feature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5F67"/>
                </a:solidFill>
                <a:latin typeface="Aptos"/>
              </a:defRPr>
            </a:pPr>
            <a:r>
              <a:t>Label historical replay as simulated; do not imply a live wearable connection.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9. Scenario explorer and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Explore hypothetical inputs without implying treatment effects.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10896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Allowed framing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“Model-projected scenario”</a:t>
            </a:r>
            <a:br/>
            <a:r>
              <a:t>“Estimated risk changed from X to Y”</a:t>
            </a:r>
            <a:br/>
            <a:r>
              <a:t>“Not causal inference.”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3108960"/>
          </a:xfrm>
          <a:prstGeom prst="roundRect">
            <a:avLst/>
          </a:prstGeom>
          <a:solidFill>
            <a:srgbClr val="192A3E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FF5F67"/>
                </a:solidFill>
              </a:defRPr>
            </a:pPr>
            <a:r>
              <a:t>Avoid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Medication recommendations</a:t>
            </a:r>
            <a:br/>
            <a:r>
              <a:t>Guaranteed risk reduction</a:t>
            </a:r>
            <a:br/>
            <a:r>
              <a:t>“Immediate intervention required”</a:t>
            </a:r>
            <a:br/>
            <a:r>
              <a:t>Unvalidated clinical cutoffs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2F7FC"/>
                </a:solidFill>
                <a:latin typeface="Aptos"/>
              </a:defRPr>
            </a:pPr>
            <a:r>
              <a:t>Do not use scenario outputs to adjust medication or make patient-care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10. 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A credible prototype makes its boundaries explicit.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291840"/>
          </a:xfrm>
          <a:prstGeom prst="roundRect">
            <a:avLst/>
          </a:prstGeom>
          <a:solidFill>
            <a:srgbClr val="192A3E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FF5F67"/>
                </a:solidFill>
              </a:defRPr>
            </a:pPr>
            <a:r>
              <a:t>Limitations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• 45 participants</a:t>
            </a:r>
            <a:br/>
            <a:r>
              <a:t>• Observational data</a:t>
            </a:r>
            <a:br/>
            <a:r>
              <a:t>• No external/prospective validation</a:t>
            </a:r>
            <a:br/>
            <a:r>
              <a:t>• Missingness and population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329184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Next research steps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• External validation</a:t>
            </a:r>
            <a:br/>
            <a:r>
              <a:t>• Clinician review</a:t>
            </a:r>
            <a:br/>
            <a:r>
              <a:t>• Prospective evaluation</a:t>
            </a:r>
            <a:br/>
            <a:r>
              <a:t>• Missing-data and subgroup analysis</a:t>
            </a:r>
            <a:br/>
            <a:r>
              <a:t>• Formal safety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5F67"/>
                </a:solidFill>
                <a:latin typeface="Aptos"/>
              </a:defRPr>
            </a:pPr>
            <a:r>
              <a:t>Research prototype only — not a diagnosis or treatment recommendation.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6B7EF"/>
                </a:solidFill>
                <a:latin typeface="Aptos"/>
              </a:defRPr>
            </a:pPr>
            <a:r>
              <a:t>GlycoTwin: a practical digital-twin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2F7FC"/>
                </a:solidFill>
                <a:latin typeface="Aptos"/>
              </a:defRPr>
            </a:pPr>
            <a:r>
              <a:t>A stateful patient representation fuses clinical context and sequential sensor data, updates as observations arrive, and estimates a defined near-term event probability.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058400" cy="1005840"/>
          </a:xfrm>
          <a:prstGeom prst="roundRect">
            <a:avLst/>
          </a:prstGeom>
          <a:solidFill>
            <a:srgbClr val="192A3E"/>
          </a:solidFill>
          <a:ln>
            <a:solidFill>
              <a:srgbClr val="25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rtlCol="0" anchor="ctr"/>
          <a:lstStyle/>
          <a:p>
            <a:pPr algn="ctr">
              <a:defRPr sz="1700" b="1">
                <a:solidFill>
                  <a:srgbClr val="25C28B"/>
                </a:solidFill>
              </a:defRPr>
            </a:pPr>
            <a:r>
              <a:t>Contribution</a:t>
            </a:r>
          </a:p>
          <a:p>
            <a:pPr>
              <a:spcBef>
                <a:spcPts val="700"/>
              </a:spcBef>
              <a:defRPr sz="1200">
                <a:solidFill>
                  <a:srgbClr val="F2F7FC"/>
                </a:solidFill>
              </a:defRPr>
            </a:pPr>
            <a:r>
              <a:t>Integrated prototype • participant-level evaluation • multimodal ablation • transparent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CBED2"/>
                </a:solidFill>
                <a:latin typeface="Aptos"/>
              </a:defRPr>
            </a:pPr>
            <a:r>
              <a:rPr dirty="0"/>
              <a:t>[</a:t>
            </a:r>
            <a:r>
              <a:rPr lang="en-IN" dirty="0" err="1"/>
              <a:t>ShecanDo</a:t>
            </a:r>
            <a:r>
              <a:rPr lang="en-IN"/>
              <a:t> it!</a:t>
            </a:r>
            <a:r>
              <a:t>] </a:t>
            </a:r>
            <a:r>
              <a:rPr dirty="0"/>
              <a:t>• [</a:t>
            </a:r>
            <a:r>
              <a:rPr lang="en-IN" dirty="0"/>
              <a:t>Vel Tech High Tech Dr Rangarajan Dr Sakunthala Engineering College</a:t>
            </a:r>
            <a:r>
              <a:rPr dirty="0"/>
              <a:t>] • [</a:t>
            </a:r>
            <a:r>
              <a:rPr lang="en-IN" dirty="0"/>
              <a:t>https://github.com/kharini118-sys/GlycoTwin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850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harini k</cp:lastModifiedBy>
  <cp:revision>2</cp:revision>
  <dcterms:created xsi:type="dcterms:W3CDTF">2013-01-27T09:14:16Z</dcterms:created>
  <dcterms:modified xsi:type="dcterms:W3CDTF">2026-10-20T12:34:34Z</dcterms:modified>
  <cp:category/>
</cp:coreProperties>
</file>