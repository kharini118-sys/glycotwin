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D9488"/>
                </a:solidFill>
              </a:rPr>
              <a:t>🧬 GlycoTwin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8FAFC"/>
                </a:solidFill>
              </a:rPr>
              <a:t>Personalized Bio-Digital Twin for 2-Hour Glucose Excursion Risk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926080"/>
            <a:ext cx="5760720" cy="502920"/>
          </a:xfrm>
          <a:prstGeom prst="rect">
            <a:avLst/>
          </a:prstGeom>
          <a:solidFill>
            <a:srgbClr val="06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29718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9488"/>
                </a:solidFill>
              </a:rPr>
              <a:t>🏆  Happiest Health Digital Twin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C2626"/>
                </a:solidFill>
              </a:rPr>
              <a:t>⚠️  Research Prototype · Not a Medical Device · Not Clinically Validated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</a:rPr>
              <a:t>[TEAM NAME]  ·  [INSTITUTION]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</a:rPr>
              <a:t>[DATE]  ·  Python 3.10  ·  CGMacros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889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5603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101M+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80160"/>
            <a:ext cx="81381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371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</a:rPr>
              <a:t>Indians living with Type 2 Diabetes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25603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677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136M+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194560"/>
            <a:ext cx="81381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</a:rPr>
              <a:t>Indians in the pre-diabetic 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25603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821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Reactive care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108960"/>
            <a:ext cx="81381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2004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</a:rPr>
              <a:t>Glucose spikes managed after they occur, not 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25603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965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Wearable 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4023360"/>
            <a:ext cx="81381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114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</a:rPr>
              <a:t>CGM devices collect rich data but predictive tools are limited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25603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109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GlycoTwin goal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937760"/>
            <a:ext cx="81381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5029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</a:rPr>
              <a:t>Proactive 2-hour excursion risk estimation using a Digital Twin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</a:rPr>
              <a:t>⚕️  Not a diagnostic tool — research demonstration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889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What Makes GlycoTwin a Digital Twin?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9436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07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234440"/>
            <a:ext cx="3200400" cy="59436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3441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Static EHR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234440"/>
            <a:ext cx="71323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441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Age, BMI, HbA1c, Fasting Glucose, Insulin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59436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219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148840"/>
            <a:ext cx="3200400" cy="59436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2585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Observation Ingestion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2148840"/>
            <a:ext cx="71323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2585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5-min CGM glucose, heart rate, activity calories, METs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59436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136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063240"/>
            <a:ext cx="3200400" cy="59436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1729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State Update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3063240"/>
            <a:ext cx="71323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1729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Personal baseline EMA, glucose momentum, data confidence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59436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05079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3977639"/>
            <a:ext cx="3200400" cy="59436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0873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Feature Construction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977639"/>
            <a:ext cx="71323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0873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Same 24-feature vector used during training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59436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9651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4892040"/>
            <a:ext cx="3200400" cy="59436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50017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Model Inference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4892040"/>
            <a:ext cx="71323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500176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Calibrated probability → Risk estimate displayed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Personal Baseline:  Bₜ = 0.95 × B_{t-1} + 0.05 × Gₜ   |   Momentum:  Mₜ = 0.70 × M_{t-1} + 0.30 × (Gₜ - G_{t-1})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889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Dataset: PhysioNet CGMacros v1.0.0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502920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</a:rPr>
              <a:t>Dataset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45 anonymized 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~5-min CGM glucose readings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Heart rate &amp; activity (METs)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Meal events &amp; macronutrients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Static EHR: Age, BMI, HbA1c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Dates shifted for privacy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577840" cy="502920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</a:rPr>
              <a:t>Data Ethics &amp;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License: CC BY-NC-SA 4.0 (non-commercial)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Not committed to git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Users download from PhysioNet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776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doi: 10.13026/3z8q-x658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Das A et al. 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• Zero PII in this repository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889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Model Performance — Verified Metrics (Held-Out Test 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</a:rPr>
              <a:t>IMPORTANT: All metrics are verified against data/processed/baseline_results.csv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146304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9488"/>
                </a:solidFill>
              </a:rPr>
              <a:t>0.7566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</a:rPr>
              <a:t>AUROC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146304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737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9488"/>
                </a:solidFill>
              </a:rPr>
              <a:t>0.4666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</a:rPr>
              <a:t>Avg 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45920"/>
            <a:ext cx="3474720" cy="146304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9488"/>
                </a:solidFill>
              </a:rPr>
              <a:t>0.3597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3474720" cy="146304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9488"/>
                </a:solidFill>
              </a:rPr>
              <a:t>0.7305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</a:rPr>
              <a:t>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474720"/>
            <a:ext cx="3474720" cy="146304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566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9488"/>
                </a:solidFill>
              </a:rPr>
              <a:t>0.4820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</a:rPr>
              <a:t>F1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474720"/>
            <a:ext cx="3474720" cy="146304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566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9488"/>
                </a:solidFill>
              </a:rPr>
              <a:t>0.1439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389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</a:rPr>
              <a:t>Brier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Test set: 7 participants · Zero participant overlap with training or validation · 31 train / 7 val / 7 test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</a:rPr>
              <a:t>Operating threshold: 20% (research choice, not clinical)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889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Ablation Study — Why Personalization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984601"/>
            <a:ext cx="2377440" cy="250179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61884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0.608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577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</a:rPr>
              <a:t>Static EHR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126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F1: 0.381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828239"/>
            <a:ext cx="2377440" cy="26581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462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0.646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577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</a:rPr>
              <a:t>Dynamic Wearable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6126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F1: 0.396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86710"/>
            <a:ext cx="2377440" cy="299968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12095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0.729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577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</a:rPr>
              <a:t>Static + Dynamic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6126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F1: 0.467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433218"/>
            <a:ext cx="2377440" cy="305318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06745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0.742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577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</a:rPr>
              <a:t>+ Personal Baseline (Twin)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126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F1: 0.479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9488"/>
                </a:solidFill>
              </a:rPr>
              <a:t>Adding the Digital Twin personal baseline adds +1.3 AUROC points over static+dynamic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889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Digital Twin Scenario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solidFill>
            <a:srgbClr val="7C2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80"/>
                </a:solidFill>
              </a:rPr>
              <a:t>⚠️  HYPOTHETICAL ESTIMATES ONLY — Feature-space perturbations, not physiological models.
Risk can increase OR decrease. Results are not clinical recommendations.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4114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Activity Increase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377440"/>
            <a:ext cx="7315200" cy="685800"/>
          </a:xfrm>
          <a:prstGeom prst="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5146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Raises activity calories &amp; METs in Twin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4114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Activity Decrease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200400"/>
            <a:ext cx="7315200" cy="685800"/>
          </a:xfrm>
          <a:prstGeom prst="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3375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Sets activity to resting baseline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4114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Glucose Trend Shift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023360"/>
            <a:ext cx="7315200" cy="685800"/>
          </a:xfrm>
          <a:prstGeom prst="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1605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Shifts recent glucose window up or 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46320"/>
            <a:ext cx="41148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Heart Rate Elevated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4846320"/>
            <a:ext cx="7315200" cy="685800"/>
          </a:xfrm>
          <a:prstGeom prst="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9834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Sets heart rate to sustained elevated 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Architecture: deep-copy Twin → apply perturbation → run identical 24-feature inference → return ΔP in percentage 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889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Application — 5-Tab Streamlit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84048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📊 Twin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740664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1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Risk gauge, glucose chart, state panel, explanation, timeline, export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384048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🧪 Scenario Simulator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94560"/>
            <a:ext cx="740664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4 scenario types, intensity slider, baseline vs scenario probability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384048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🩺 EHR 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108960"/>
            <a:ext cx="740664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2461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Static clinical features, HbA1c cohort (research classification only)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384048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📡 CGM Replay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023360"/>
            <a:ext cx="740664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1605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Step/jump/back/reset controls, progress bar, per-observation state update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37760"/>
            <a:ext cx="384048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🔬 Model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937760"/>
            <a:ext cx="740664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50749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AUROC, AP, F1, Brier Score, ablation chart, model card, data provenance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Auth: Argon2id hashing  ·  Workspaces: SQLite per-user  ·  Export: PDF +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889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Safety, Ethics &amp; Research Transparency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731520"/>
          </a:xfrm>
          <a:prstGeom prst="rect">
            <a:avLst/>
          </a:prstGeom>
          <a:solidFill>
            <a:srgbClr val="3B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5A5"/>
                </a:solidFill>
              </a:rPr>
              <a:t>GlycoTwin is a RESEARCH PROTOTYPE. Never use it for clinical decisions. No treatment recommendations appear anywhere in the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✓  All metrics are verified from actual evaluation files — never fabricated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✓  Target built from observed glucose only — no imputed values used as ground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5409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✓  31/7/7 participant split with zero overlap — no data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95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✓  20% threshold labeled as research operating point, not clinical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050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✓  HbA1c cohort classification labeled as research grouping, not 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✓  Scenario outputs labeled as hypothetical — risk can increase or decrease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560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✓  Passwords hashed with Argon2id — plaintext never stored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3153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✓  Dataset: CC BY-NC-SA 4.0 — non-commercial. Raw data not committed.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88952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4747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Digital Twin Update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280160"/>
            <a:ext cx="77724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417319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Genuine stateful update: each 5-min observation refreshes Twin + runs inference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34747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Personalization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194560"/>
            <a:ext cx="77724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3317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Personal baseline adds +1.3 AUROC points — validated by ablation study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34747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186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Open &amp; Reproducible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108960"/>
            <a:ext cx="77724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2461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Public dataset, verified metrics, full source code, 48 passing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34747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330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Scientifically Responsible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4023360"/>
            <a:ext cx="77724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41605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No fabricated metrics, explicit safety disclaimers throughout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</a:rPr>
              <a:t>Future Work: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6692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External validation on independent cohort  ·  Real-time wearable API integration  ·  Prospective clinical pilot  ·  Principled uncertainty quantification  ·  Regulatory pathway exploration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Test AUROC 0.757  ·  48/48 tests passing  ·  Python 3.10  ·  CGMacros 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